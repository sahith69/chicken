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itte_ns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7644384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00200"/>
            <a:ext cx="1072865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Auditing Vision-Based Poultry Disease Screening Under Leakage and Confounder Controls</a:t>
            </a:r>
          </a:p>
          <a:p>
            <a:pPr>
              <a:spcBef>
                <a:spcPts val="800"/>
              </a:spcBef>
              <a:defRPr sz="1400" i="1">
                <a:solidFill>
                  <a:srgbClr val="BAD7E9"/>
                </a:solidFill>
              </a:defRPr>
            </a:pPr>
            <a:r>
              <a:t>A Methodological Audit: Deep Architectures, Shortcut-Resistant Classical Baselines, Representation-Space OOD Gating, and Edge Limits on Tanzanian Avian Pathology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7C41"/>
                </a:solidFill>
              </a:defRPr>
            </a:pPr>
            <a:r>
              <a:t>STUDENT INVESTIGATOR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Mr. Shamanth</a:t>
            </a:r>
            <a:br/>
            <a:r>
              <a:t>Register Number: NNS24BC070</a:t>
            </a:r>
            <a:br/>
            <a:r>
              <a:t>Class: III BCA 'B'</a:t>
            </a:r>
            <a:br/>
            <a:r>
              <a:t>Department of Computer Science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4023360"/>
            <a:ext cx="5242255" cy="210312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7C41"/>
                </a:solidFill>
              </a:defRPr>
            </a:pPr>
            <a:r>
              <a:t>PROJECT GUIDANCE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Mr. Bharath S. Bhat (Head of Department &amp; Asst. Professor Gd-II)</a:t>
            </a:r>
            <a:br/>
            <a:r>
              <a:t>Mr. Srujan U. Shetty (Assistant Professor)</a:t>
            </a:r>
            <a:br/>
            <a:br/>
            <a:r>
              <a:t>Dr. NSAM First Grade College, Nitte (Deemed to be University)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07C41"/>
                </a:solidFill>
              </a:defRPr>
            </a:pPr>
            <a:r>
              <a:t>KUKUGUARD | PROBLEM CONTEXT &amp; RESEARCH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2043"/>
                </a:solidFill>
              </a:defRPr>
            </a:pPr>
            <a:r>
              <a:t>Why We Chose This: Avian Pathology &amp; Smallholder Farming Crisis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The Smallholder Avian Crisis</a:t>
            </a:r>
          </a:p>
          <a:p>
            <a:pPr>
              <a:spcBef>
                <a:spcPts val="1200"/>
              </a:spcBef>
              <a:defRPr sz="1150">
                <a:solidFill>
                  <a:srgbClr val="0F172A"/>
                </a:solidFill>
              </a:defRPr>
            </a:pPr>
            <a:r>
              <a:t>• Poultry is the primary animal protein and economic lifeline for &gt;80% of rural smallholders across developing agrarian economies (FAO, 2022).</a:t>
            </a:r>
          </a:p>
          <a:p>
            <a:pPr>
              <a:spcBef>
                <a:spcPts val="1200"/>
              </a:spcBef>
              <a:defRPr sz="1150">
                <a:solidFill>
                  <a:srgbClr val="0F172A"/>
                </a:solidFill>
              </a:defRPr>
            </a:pPr>
            <a:r>
              <a:t>• Enteric &amp; systemic epizootics (Coccidiosis, Salmonella, virulent Newcastle Disease) trigger sudden catastrophic flock mortality (up to 100% in 48–72 hours).</a:t>
            </a:r>
          </a:p>
          <a:p>
            <a:pPr>
              <a:spcBef>
                <a:spcPts val="1200"/>
              </a:spcBef>
              <a:defRPr sz="1150">
                <a:solidFill>
                  <a:srgbClr val="0F172A"/>
                </a:solidFill>
              </a:defRPr>
            </a:pPr>
            <a:r>
              <a:t>• Horizontal fecal-oral contagion spreads rapidly across confined shed floors, demanding immediate early triage before pen-wide outbreak.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97706"/>
                </a:solidFill>
              </a:defRPr>
            </a:pPr>
            <a:r>
              <a:t>The Practical Bottleneck</a:t>
            </a:r>
          </a:p>
          <a:p>
            <a:pPr>
              <a:spcBef>
                <a:spcPts val="1200"/>
              </a:spcBef>
              <a:defRPr sz="1150">
                <a:solidFill>
                  <a:srgbClr val="0F172A"/>
                </a:solidFill>
              </a:defRPr>
            </a:pPr>
            <a:r>
              <a:t>• Diagnostic Deserts: Laboratory PCR confirmation and necropsy diagnostics are geographically inaccessible and cost-prohibitive ($15–$40/bird) for rural farmers.</a:t>
            </a:r>
          </a:p>
          <a:p>
            <a:pPr>
              <a:spcBef>
                <a:spcPts val="1200"/>
              </a:spcBef>
              <a:defRPr sz="1150">
                <a:solidFill>
                  <a:srgbClr val="0F172A"/>
                </a:solidFill>
              </a:defRPr>
            </a:pPr>
            <a:r>
              <a:t>• Visual Ambiguity: Non-specific fecal changes (bloody mucus, sulfur-yellow urates, bile green diarrhea) are routinely confused under uncalibrated human inspection.</a:t>
            </a:r>
          </a:p>
          <a:p>
            <a:pPr>
              <a:spcBef>
                <a:spcPts val="1200"/>
              </a:spcBef>
              <a:defRPr sz="1150">
                <a:solidFill>
                  <a:srgbClr val="0F172A"/>
                </a:solidFill>
              </a:defRPr>
            </a:pPr>
            <a:r>
              <a:t>• Over-Medication &amp; AMR: Fear of total flock loss drives excessive indiscriminate prophylactic antibiotic use, accelerating Antimicrobial Resistance (AMR).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7C41"/>
                </a:solidFill>
              </a:defRPr>
            </a:pPr>
            <a:r>
              <a:t>Our Research Objectives</a:t>
            </a:r>
          </a:p>
          <a:p>
            <a:pPr>
              <a:spcBef>
                <a:spcPts val="1200"/>
              </a:spcBef>
              <a:defRPr sz="1150">
                <a:solidFill>
                  <a:srgbClr val="0F172A"/>
                </a:solidFill>
              </a:defRPr>
            </a:pPr>
            <a:r>
              <a:t>• Build an edge-deployable, leak-safe diagnostic classifier across 4 primary avian conditions (Healthy, Coccidiosis, Newcastle Disease, Salmonella).</a:t>
            </a:r>
          </a:p>
          <a:p>
            <a:pPr>
              <a:spcBef>
                <a:spcPts val="1200"/>
              </a:spcBef>
              <a:defRPr sz="1150">
                <a:solidFill>
                  <a:srgbClr val="0F172A"/>
                </a:solidFill>
              </a:defRPr>
            </a:pPr>
            <a:r>
              <a:t>• Unsparing Methodological Audit: Quantify and resolve near-duplicate camera burst leakage, pen bedding confounders, and overconfident distractor classifications.</a:t>
            </a:r>
          </a:p>
          <a:p>
            <a:pPr>
              <a:spcBef>
                <a:spcPts val="1200"/>
              </a:spcBef>
              <a:defRPr sz="1150">
                <a:solidFill>
                  <a:srgbClr val="0F172A"/>
                </a:solidFill>
              </a:defRPr>
            </a:pPr>
            <a:r>
              <a:t>• Deliver an uncertainty-calibrated, dual-engine screening dashboard with certified representation-space OOD gating running offline on standard smartphones.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07C41"/>
                </a:solidFill>
              </a:defRPr>
            </a:pPr>
            <a:r>
              <a:t>ACT 1: CLINICAL FOUNDATION &amp; PATHOLOGY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2043"/>
                </a:solidFill>
              </a:defRPr>
            </a:pPr>
            <a:r>
              <a:t>Avian Pathologies: Etiology, Gross Fecal Morphology &amp; Clinical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2043"/>
                </a:solidFill>
              </a:defRPr>
            </a:pPr>
            <a:r>
              <a:t>PCR-Confirmed Avian Fecal Pathology Spectrum (Machuve et al., 2022)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</a:defRPr>
            </a:pPr>
            <a:r>
              <a:t>Each condition exhibits characteristic biochemical chrominance and morphological texture signatures in excreted droppings, reflecting distinct physiological disease pathways: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246888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7C41"/>
                </a:solidFill>
              </a:defRPr>
            </a:pPr>
            <a:r>
              <a:t>Healthy Control</a:t>
            </a:r>
          </a:p>
          <a:p>
            <a:pPr>
              <a:spcBef>
                <a:spcPts val="200"/>
              </a:spcBef>
              <a:defRPr sz="1100" b="1">
                <a:solidFill>
                  <a:srgbClr val="0F2043"/>
                </a:solidFill>
              </a:defRPr>
            </a:pPr>
            <a:r>
              <a:t>Normal Physiological State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Pristine cylindrical fecal form with intact uric acid cap.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Uniform olive-brown matrix with normal intestinal mucosal sheen.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Zero detectable hemorrhage or watery bile extravasation.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Serves as the baseline negative control; no flock intervention required.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83864" y="2834640"/>
            <a:ext cx="246888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C2626"/>
                </a:solidFill>
              </a:defRPr>
            </a:pPr>
            <a:r>
              <a:t>Coccidiosis</a:t>
            </a:r>
          </a:p>
          <a:p>
            <a:pPr>
              <a:spcBef>
                <a:spcPts val="200"/>
              </a:spcBef>
              <a:defRPr sz="1100" b="1">
                <a:solidFill>
                  <a:srgbClr val="0F2043"/>
                </a:solidFill>
              </a:defRPr>
            </a:pPr>
            <a:r>
              <a:t>Eimeria tenella / acervulina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Severe mucoid diarrhea with frank blood &amp; tissue shredding.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Caused by intracellular protozoan destruction of cecal epithelial lining.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High morbidity (80–100%) in broiler chicks aged 3–6 weeks.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Urgent therapeutic anticoccidial administration (toltrazuril) required.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2834640"/>
            <a:ext cx="246888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97706"/>
                </a:solidFill>
              </a:defRPr>
            </a:pPr>
            <a:r>
              <a:t>Newcastle Disease</a:t>
            </a:r>
          </a:p>
          <a:p>
            <a:pPr>
              <a:spcBef>
                <a:spcPts val="200"/>
              </a:spcBef>
              <a:defRPr sz="1100" b="1">
                <a:solidFill>
                  <a:srgbClr val="0F2043"/>
                </a:solidFill>
              </a:defRPr>
            </a:pPr>
            <a:r>
              <a:t>Avian Paramyxovirus-1 (APMV-1)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Profuse bright emerald-green watery diarrhea with urate discharge.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Accompanied by acute nervous signs (torticollis) &amp; respiratory rales.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WOAH List-A reportable epizootic; flock mortality 90–100% within 48h.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Mandates emergency flock quarantine and immediate biosecurity cordon.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88552" y="2834640"/>
            <a:ext cx="246888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Salmonella</a:t>
            </a:r>
          </a:p>
          <a:p>
            <a:pPr>
              <a:spcBef>
                <a:spcPts val="200"/>
              </a:spcBef>
              <a:defRPr sz="1100" b="1">
                <a:solidFill>
                  <a:srgbClr val="0F2043"/>
                </a:solidFill>
              </a:defRPr>
            </a:pPr>
            <a:r>
              <a:t>S. pullorum / gallinarum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Chalky, sulfur-yellow to whitish watery diarrhea pasted to cloacal vent.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Causes Bacillary White Diarrhea &amp; systemic Fowl Typhoid.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Vertical transmission via hatcheries and horizontal litter contagion.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Requires targeted antimicrobial therapy and rigorous pen disinfection.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07C41"/>
                </a:solidFill>
              </a:defRPr>
            </a:pPr>
            <a:r>
              <a:t>SYSTEM ARCHITECTURE | DUAL-ENGINE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2043"/>
                </a:solidFill>
              </a:defRPr>
            </a:pPr>
            <a:r>
              <a:t>Architectural Blueprint: The KukuGuard Dual-Engine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kukuguard_pipelin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281424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75120" y="1645920"/>
            <a:ext cx="478505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2043"/>
                </a:solidFill>
              </a:defRPr>
            </a:pPr>
            <a:r>
              <a:t>DUAL-ENGINE SPECIALIZATION DESIGN</a:t>
            </a:r>
          </a:p>
          <a:p>
            <a:pPr>
              <a:spcBef>
                <a:spcPts val="600"/>
              </a:spcBef>
              <a:defRPr sz="1150" b="1">
                <a:solidFill>
                  <a:srgbClr val="107C41"/>
                </a:solidFill>
              </a:defRPr>
            </a:pPr>
            <a:r>
              <a:t>• Stage 1 — Penultimate Cosine OOD Gate (1280-d):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</a:defRPr>
            </a:pPr>
            <a:r>
              <a:t>Pre-screens incoming image embeddings against class prototypes. Rejects farm distractors (boots, hands, tools, bare soil) before disease classification (98.00% OOD rejection).</a:t>
            </a:r>
          </a:p>
          <a:p>
            <a:pPr>
              <a:spcBef>
                <a:spcPts val="600"/>
              </a:spcBef>
              <a:defRPr sz="1150" b="1">
                <a:solidFill>
                  <a:srgbClr val="107C41"/>
                </a:solidFill>
              </a:defRPr>
            </a:pPr>
            <a:r>
              <a:t>• Stage 2 — Primary Diagnosis Engine (Center-Only SVM):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</a:defRPr>
            </a:pPr>
            <a:r>
              <a:t>Extracts 205-d color &amp; texture features strictly from the 60% central core (CIELAB, HSV, LBP, Haar wavelets), blinding the model to outer bedding (Macro-F1: 0.9195, 14.2 ms CPU).</a:t>
            </a:r>
          </a:p>
          <a:p>
            <a:pPr>
              <a:spcBef>
                <a:spcPts val="600"/>
              </a:spcBef>
              <a:defRPr sz="1150" b="1">
                <a:solidFill>
                  <a:srgbClr val="107C41"/>
                </a:solidFill>
              </a:defRPr>
            </a:pPr>
            <a:r>
              <a:t>• Stage 3 — Secondary Opinion Engine (EfficientNet-B0 ONNX):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</a:defRPr>
            </a:pPr>
            <a:r>
              <a:t>Generates calibrated probabilities (T=1.63) and Grad-CAM spatial heatmaps at 214.9 FPS (4.65 ms CPU).</a:t>
            </a:r>
          </a:p>
          <a:p>
            <a:pPr>
              <a:spcBef>
                <a:spcPts val="600"/>
              </a:spcBef>
              <a:defRPr sz="1150" b="1">
                <a:solidFill>
                  <a:srgbClr val="107C41"/>
                </a:solidFill>
              </a:defRPr>
            </a:pPr>
            <a:r>
              <a:t>• Stage 4 — High-Sensitivity Newcastle Tripwire: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</a:defRPr>
            </a:pPr>
            <a:r>
              <a:t>If the neural model detects Newcastle Disease when SVM is borderline, the system activates an emergency outbreak alert (CNN achieves 93.94% recall on hard atypical droppings).</a:t>
            </a:r>
          </a:p>
          <a:p>
            <a:pPr>
              <a:spcBef>
                <a:spcPts val="600"/>
              </a:spcBef>
              <a:defRPr sz="1150" b="1">
                <a:solidFill>
                  <a:srgbClr val="107C41"/>
                </a:solidFill>
              </a:defRPr>
            </a:pPr>
            <a:r>
              <a:t>• Streamlit Field Dashboard: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</a:defRPr>
            </a:pPr>
            <a:r>
              <a:t>Combines diagnostic consensus, calibrated confidence bars, explainability heatmaps, and veterinary dossiers (FAO/WOAH guidelines).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07C41"/>
                </a:solidFill>
              </a:defRPr>
            </a:pPr>
            <a:r>
              <a:t>DATA ACQUISITION &amp; INTEGRITY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2043"/>
                </a:solidFill>
              </a:defRPr>
            </a:pPr>
            <a:r>
              <a:t>Dataset Compilation: PCR-Verified Tanzanian Poultry Benchmark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5720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7C41"/>
                </a:solidFill>
              </a:defRPr>
            </a:pPr>
            <a:r>
              <a:t>DATASET COMPILATION &amp; HYGIENE</a:t>
            </a:r>
          </a:p>
          <a:p>
            <a:pPr>
              <a:spcBef>
                <a:spcPts val="500"/>
              </a:spcBef>
              <a:defRPr sz="1150" b="1">
                <a:solidFill>
                  <a:srgbClr val="0F2043"/>
                </a:solidFill>
              </a:defRPr>
            </a:pPr>
            <a:r>
              <a:t>• Source &amp; Laboratory Verification: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</a:defRPr>
            </a:pPr>
            <a:r>
              <a:t>Machuve et al. (2022), captured on smallholder farms in Arusha and Kilimanjaro, Tanzania. First public benchmark with laboratory PCR confirmation.</a:t>
            </a:r>
          </a:p>
          <a:p>
            <a:pPr>
              <a:spcBef>
                <a:spcPts val="500"/>
              </a:spcBef>
              <a:defRPr sz="1150" b="1">
                <a:solidFill>
                  <a:srgbClr val="0F2043"/>
                </a:solidFill>
              </a:defRPr>
            </a:pPr>
            <a:r>
              <a:t>• Total Pooled Dataset Size: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</a:defRPr>
            </a:pPr>
            <a:r>
              <a:t>8,067 high-resolution RGB fecal images uniformly resized to 224 × 224 pixels across 4 diagnostic categories.</a:t>
            </a:r>
          </a:p>
          <a:p>
            <a:pPr>
              <a:spcBef>
                <a:spcPts val="500"/>
              </a:spcBef>
              <a:defRPr sz="1150" b="1">
                <a:solidFill>
                  <a:srgbClr val="0F2043"/>
                </a:solidFill>
              </a:defRPr>
            </a:pPr>
            <a:r>
              <a:t>• Flattening &amp; Decontamination Protocol: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</a:defRPr>
            </a:pPr>
            <a:r>
              <a:t>Upstream Kaggle mirrors arrived pre-split into train/val/test folders via naive random splitting. All upstream splits were flattened to data/raw/ to purge cross-split burst leakage before regrouping.</a:t>
            </a:r>
          </a:p>
          <a:p>
            <a:pPr>
              <a:spcBef>
                <a:spcPts val="500"/>
              </a:spcBef>
              <a:defRPr sz="1150" b="1">
                <a:solidFill>
                  <a:srgbClr val="0F2043"/>
                </a:solidFill>
              </a:defRPr>
            </a:pPr>
            <a:r>
              <a:t>• Four Target Diagnostic Classes: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</a:defRPr>
            </a:pPr>
            <a:r>
              <a:t>• Salmonella: 2,625 images (32.54%)</a:t>
            </a:r>
            <a:br/>
            <a:r>
              <a:t>• Coccidiosis: 2,476 images (30.70%)</a:t>
            </a:r>
            <a:br/>
            <a:r>
              <a:t>• Healthy: 2,404 images (29.80%)</a:t>
            </a:r>
            <a:br/>
            <a:r>
              <a:t>• Newcastle Disease: 562 images (6.97% - Severe Imbalance).</a:t>
            </a:r>
          </a:p>
          <a:p>
            <a:pPr>
              <a:spcBef>
                <a:spcPts val="500"/>
              </a:spcBef>
              <a:defRPr sz="1150" b="1">
                <a:solidFill>
                  <a:srgbClr val="0F2043"/>
                </a:solidFill>
              </a:defRPr>
            </a:pPr>
            <a:r>
              <a:t>• Integrity Audit: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</a:defRPr>
            </a:pPr>
            <a:r>
              <a:t>0 corrupt files; 280 exact MD5 duplicates flagged for graph deduplication; uniform 3-channel RGB depth.</a:t>
            </a:r>
          </a:p>
        </p:txBody>
      </p:sp>
      <p:pic>
        <p:nvPicPr>
          <p:cNvPr id="6" name="Picture 5" descr="sample_grid_compo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645920"/>
            <a:ext cx="5882335" cy="47058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07C41"/>
                </a:solidFill>
              </a:defRPr>
            </a:pPr>
            <a:r>
              <a:t>MODEL BENCHMARKING | CANDIDATE ARCHITECTURES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2043"/>
                </a:solidFill>
              </a:defRPr>
            </a:pPr>
            <a:r>
              <a:t>Architectural Exploration: Comparison of Model Backbones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urves_efficientnet_b0_weighted_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202474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75120" y="1645920"/>
            <a:ext cx="478505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2043"/>
                </a:solidFill>
              </a:defRPr>
            </a:pPr>
            <a:r>
              <a:t>CANDIDATE ARCHITECTURE AUDIT</a:t>
            </a:r>
          </a:p>
          <a:p>
            <a:pPr>
              <a:spcBef>
                <a:spcPts val="500"/>
              </a:spcBef>
              <a:defRPr sz="1100" b="1">
                <a:solidFill>
                  <a:srgbClr val="107C41"/>
                </a:solidFill>
              </a:defRPr>
            </a:pPr>
            <a:r>
              <a:t>• BaselineCNN (Scratch 4-Block CNN | 98K Params):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Trained from scratch without ImageNet priors. Serves as honest empirical floor: achieves 84.80% Macro-F1 and 88.17% accuracy, confirming strong baseline diagnostic separation.</a:t>
            </a:r>
          </a:p>
          <a:p>
            <a:pPr>
              <a:spcBef>
                <a:spcPts val="500"/>
              </a:spcBef>
              <a:defRPr sz="1100" b="1">
                <a:solidFill>
                  <a:srgbClr val="107C41"/>
                </a:solidFill>
              </a:defRPr>
            </a:pPr>
            <a:r>
              <a:t>• MobileNetV2 (2.23M Params | 10.8 ms CPU):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Lightweight inverted residual architecture. Achieved 84.97% test Macro-F1 and 85.71% Newcastle recall, but exhibited higher variance on uncalibrated backgrounds.</a:t>
            </a:r>
          </a:p>
          <a:p>
            <a:pPr>
              <a:spcBef>
                <a:spcPts val="500"/>
              </a:spcBef>
              <a:defRPr sz="1100" b="1">
                <a:solidFill>
                  <a:srgbClr val="107C41"/>
                </a:solidFill>
              </a:defRPr>
            </a:pPr>
            <a:r>
              <a:t>• EfficientNet-B0 Champion (4.01M Params | 15.6 ms CPU):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Achieved superior balance across parameters, latency, and diagnostic fidelity: 87.14% Macro-F1, 89.41% accuracy, and 90.48% Newcastle recall under weighted cross-entropy.</a:t>
            </a:r>
          </a:p>
          <a:p>
            <a:pPr>
              <a:spcBef>
                <a:spcPts val="500"/>
              </a:spcBef>
              <a:defRPr sz="1100" b="1">
                <a:solidFill>
                  <a:srgbClr val="107C41"/>
                </a:solidFill>
              </a:defRPr>
            </a:pPr>
            <a:r>
              <a:t>• ResNet-50 (23.52M Params | 52.3 ms CPU):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Heavy 23.5M parameter capacity caused rapid memorization of background bedding textures rather than fecal pathology. Gained zero Macro-F1 (86.22%) while quadrupling inference latency.</a:t>
            </a:r>
          </a:p>
          <a:p>
            <a:pPr>
              <a:spcBef>
                <a:spcPts val="500"/>
              </a:spcBef>
              <a:defRPr sz="1100" b="1">
                <a:solidFill>
                  <a:srgbClr val="107C41"/>
                </a:solidFill>
              </a:defRPr>
            </a:pPr>
            <a:r>
              <a:t>• The Agricultural Trade-Off: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Deep vision demands Pareto-optimal balance between representational capacity, edge latency, and resistance to background shortcut overfitting.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07C41"/>
                </a:solidFill>
              </a:defRPr>
            </a:pPr>
            <a:r>
              <a:t>DATASET HYGIENE &amp; CLASS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2043"/>
                </a:solidFill>
              </a:defRPr>
            </a:pPr>
            <a:r>
              <a:t>Dataset Imbalance &amp; The 4.67:1 Newcastle Skew Reality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3149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75120" y="1645920"/>
            <a:ext cx="478505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2043"/>
                </a:solidFill>
              </a:defRPr>
            </a:pPr>
            <a:r>
              <a:t>THE SKEW REALITY &amp; PROTOCOLS</a:t>
            </a:r>
          </a:p>
          <a:p>
            <a:pPr>
              <a:spcBef>
                <a:spcPts val="500"/>
              </a:spcBef>
              <a:defRPr sz="1100" b="1">
                <a:solidFill>
                  <a:srgbClr val="D97706"/>
                </a:solidFill>
              </a:defRPr>
            </a:pPr>
            <a:r>
              <a:t>• The Severe Newcastle Skew (4.67 : 1):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Salmonella (2,625), Coccidiosis (2,476), and Healthy (2,404) dominate the dataset (~30% each), while Newcastle Disease comprises only 562 images (6.97%).</a:t>
            </a:r>
          </a:p>
          <a:p>
            <a:pPr>
              <a:spcBef>
                <a:spcPts val="500"/>
              </a:spcBef>
              <a:defRPr sz="1100" b="1">
                <a:solidFill>
                  <a:srgbClr val="D97706"/>
                </a:solidFill>
              </a:defRPr>
            </a:pPr>
            <a:r>
              <a:t>• The Clinical Epizootic Threat: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Newcastle Disease is the most lethal condition (WOAH List-A). A naive model optimizing unweighted cross-entropy will sacrifice Newcastle sensitivity to maximize bulk accuracy, leading to uncontained viral outbreaks.</a:t>
            </a:r>
          </a:p>
          <a:p>
            <a:pPr>
              <a:spcBef>
                <a:spcPts val="500"/>
              </a:spcBef>
              <a:defRPr sz="1100" b="1">
                <a:solidFill>
                  <a:srgbClr val="D97706"/>
                </a:solidFill>
              </a:defRPr>
            </a:pPr>
            <a:r>
              <a:t>• Stratified 70 / 15 / 15 Group Partitioning: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Enforced StratifiedGroupKFold across 7,714 independent perceptual scene groups: Train (5,649 imgs, 70.0%), Val (1,209 imgs, 15.0%), Test (1,209 imgs, 15.0%).</a:t>
            </a:r>
          </a:p>
          <a:p>
            <a:pPr>
              <a:spcBef>
                <a:spcPts val="500"/>
              </a:spcBef>
              <a:defRPr sz="1100" b="1">
                <a:solidFill>
                  <a:srgbClr val="D97706"/>
                </a:solidFill>
              </a:defRPr>
            </a:pPr>
            <a:r>
              <a:t>• Exact Class Ratio Preservation: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Every split preserves exact class proportions within 0.1% (Salmonella ~32.5%, Coccidiosis ~30.7%, Healthy ~29.8%, Newcastle ~7.0%).</a:t>
            </a:r>
          </a:p>
          <a:p>
            <a:pPr>
              <a:spcBef>
                <a:spcPts val="500"/>
              </a:spcBef>
              <a:defRPr sz="1100" b="1">
                <a:solidFill>
                  <a:srgbClr val="D97706"/>
                </a:solidFill>
              </a:defRPr>
            </a:pPr>
            <a:r>
              <a:t>• Zero Group Overlap Verification: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Mathematically asserted zero group_id overlap across train, val, and test splits (0 group leakage confirmed).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07C41"/>
                </a:solidFill>
              </a:defRPr>
            </a:pPr>
            <a:r>
              <a:t>MITIGATION PROTOCOLS | CLASS IMBALANCE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2043"/>
                </a:solidFill>
              </a:defRPr>
            </a:pPr>
            <a:r>
              <a:t>Resolving Natural Imbalance: Class Weights &amp; Augmentation Policy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2043"/>
                </a:solidFill>
              </a:defRPr>
            </a:pPr>
            <a:r>
              <a:t>1. INVERSE-FREQUENCY CLASS WEIGHTS</a:t>
            </a:r>
          </a:p>
          <a:p>
            <a:pPr>
              <a:spcBef>
                <a:spcPts val="1000"/>
              </a:spcBef>
              <a:defRPr sz="1050">
                <a:solidFill>
                  <a:srgbClr val="0F172A"/>
                </a:solidFill>
              </a:defRPr>
            </a:pPr>
            <a:r>
              <a:t>• Loss Gradients Scaled by Class Inverses: Salmonella (0.51), Healthy (0.56), Coccidiosis (0.54), Newcastle (2.39).</a:t>
            </a:r>
          </a:p>
          <a:p>
            <a:pPr>
              <a:spcBef>
                <a:spcPts val="1000"/>
              </a:spcBef>
              <a:defRPr sz="1050">
                <a:solidFill>
                  <a:srgbClr val="0F172A"/>
                </a:solidFill>
              </a:defRPr>
            </a:pPr>
            <a:r>
              <a:t>• Forces the network to treat a missed Newcastle dropping with ~4.5x greater penalty than an overrepresented Salmonella sample.</a:t>
            </a:r>
          </a:p>
          <a:p>
            <a:pPr>
              <a:spcBef>
                <a:spcPts val="1000"/>
              </a:spcBef>
              <a:defRPr sz="1050">
                <a:solidFill>
                  <a:srgbClr val="0F172A"/>
                </a:solidFill>
              </a:defRPr>
            </a:pPr>
            <a:r>
              <a:t>• Neutralizes class imbalance directly during backpropagation without discarding majority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83864" y="1645920"/>
            <a:ext cx="24688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2. FOCAL LOSS DYNAMIC HARD-MINING</a:t>
            </a:r>
          </a:p>
          <a:p>
            <a:pPr>
              <a:spcBef>
                <a:spcPts val="1000"/>
              </a:spcBef>
              <a:defRPr sz="1050">
                <a:solidFill>
                  <a:srgbClr val="0F172A"/>
                </a:solidFill>
              </a:defRPr>
            </a:pPr>
            <a:r>
              <a:t>• Focal Loss Formulation: FL(p_t) = -α_t (1 - p_t)^γ log(p_t) with focusing parameter γ = 2.0.</a:t>
            </a:r>
          </a:p>
          <a:p>
            <a:pPr>
              <a:spcBef>
                <a:spcPts val="1000"/>
              </a:spcBef>
              <a:defRPr sz="1050">
                <a:solidFill>
                  <a:srgbClr val="0F172A"/>
                </a:solidFill>
              </a:defRPr>
            </a:pPr>
            <a:r>
              <a:t>• Dynamically down-weights easy, well-classified examples, concentrating capacity on hard, ambiguous fecal boundaries.</a:t>
            </a:r>
          </a:p>
          <a:p>
            <a:pPr>
              <a:spcBef>
                <a:spcPts val="1000"/>
              </a:spcBef>
              <a:defRPr sz="1050">
                <a:solidFill>
                  <a:srgbClr val="0F172A"/>
                </a:solidFill>
              </a:defRPr>
            </a:pPr>
            <a:r>
              <a:t>• Elevated Newcastle recall to 89.29% while maintaining solid precision across majority classes.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1645920"/>
            <a:ext cx="24688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7C41"/>
                </a:solidFill>
              </a:defRPr>
            </a:pPr>
            <a:r>
              <a:t>3. BIOLOGICAL AUGMENTATION POLICY</a:t>
            </a:r>
          </a:p>
          <a:p>
            <a:pPr>
              <a:spcBef>
                <a:spcPts val="1000"/>
              </a:spcBef>
              <a:defRPr sz="1050">
                <a:solidFill>
                  <a:srgbClr val="0F172A"/>
                </a:solidFill>
              </a:defRPr>
            </a:pPr>
            <a:r>
              <a:t>• Hard Ban on MixUp / CutMix: Blending bloody mucoid stool with normal droppings produces a biologically impossible hybrid that destroys diagnostic features.</a:t>
            </a:r>
          </a:p>
          <a:p>
            <a:pPr>
              <a:spcBef>
                <a:spcPts val="1000"/>
              </a:spcBef>
              <a:defRPr sz="1050">
                <a:solidFill>
                  <a:srgbClr val="0F172A"/>
                </a:solidFill>
              </a:defRPr>
            </a:pPr>
            <a:r>
              <a:t>• Hue &amp; Saturation Jitter Strictly Locked to 0: Preserves vital biochemical chrominance (bile green, hemoglobin red, urate yellow).</a:t>
            </a:r>
          </a:p>
          <a:p>
            <a:pPr>
              <a:spcBef>
                <a:spcPts val="1000"/>
              </a:spcBef>
              <a:defRPr sz="1050">
                <a:solidFill>
                  <a:srgbClr val="0F172A"/>
                </a:solidFill>
              </a:defRPr>
            </a:pPr>
            <a:r>
              <a:t>• Random rotation ±20° with reflection padding eliminates artificial black corner artifacts.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88552" y="1645920"/>
            <a:ext cx="24688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4. UNBIASED EVALUATION METRICS</a:t>
            </a:r>
          </a:p>
          <a:p>
            <a:pPr>
              <a:spcBef>
                <a:spcPts val="1000"/>
              </a:spcBef>
              <a:defRPr sz="1050">
                <a:solidFill>
                  <a:srgbClr val="0F172A"/>
                </a:solidFill>
              </a:defRPr>
            </a:pPr>
            <a:r>
              <a:t>• Macro-Averaged F1: Computes arithmetic mean of individual class F1 scores, weighting the 7% Newcastle minority equally with majority classes.</a:t>
            </a:r>
          </a:p>
          <a:p>
            <a:pPr>
              <a:spcBef>
                <a:spcPts val="1000"/>
              </a:spcBef>
              <a:defRPr sz="1050">
                <a:solidFill>
                  <a:srgbClr val="0F172A"/>
                </a:solidFill>
              </a:defRPr>
            </a:pPr>
            <a:r>
              <a:t>• Per-Class Sensitivity Tripwires: Monitored Newcastle recall at every epoch; models failing 85% sensitivity were rejected.</a:t>
            </a:r>
          </a:p>
          <a:p>
            <a:pPr>
              <a:spcBef>
                <a:spcPts val="1000"/>
              </a:spcBef>
              <a:defRPr sz="1050">
                <a:solidFill>
                  <a:srgbClr val="0F172A"/>
                </a:solidFill>
              </a:defRPr>
            </a:pPr>
            <a:r>
              <a:t>• Guarantees that high nominal test accuracy is never achieved by sacrificing vulnerable minority disease detection.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itte_ns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6839712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7373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7C41"/>
                </a:solidFill>
              </a:defRPr>
            </a:pPr>
            <a:r>
              <a:t>ACT 2: THE LEAKAGE AUDIT &amp; EMPIRICAL REALITY</a:t>
            </a:r>
          </a:p>
          <a:p>
            <a:pPr>
              <a:spcBef>
                <a:spcPts val="800"/>
              </a:spcBef>
              <a:defRPr sz="3200" b="1">
                <a:solidFill>
                  <a:srgbClr val="FFFFFF"/>
                </a:solidFill>
              </a:defRPr>
            </a:pPr>
            <a:r>
              <a:t>The Near-Duplicate Burst Leakage Revelation</a:t>
            </a:r>
          </a:p>
          <a:p>
            <a:pPr>
              <a:spcBef>
                <a:spcPts val="1000"/>
              </a:spcBef>
              <a:defRPr sz="1600" i="1">
                <a:solidFill>
                  <a:srgbClr val="BAD7E9"/>
                </a:solidFill>
              </a:defRPr>
            </a:pPr>
            <a:r>
              <a:t>Exposing Camera Burst Duplication, the Illusion of &gt;95% Accuracy, and Establishing the Leak-Free Group-Aware Benchmark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297680"/>
            <a:ext cx="2476423" cy="164592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8,067 IMAGES AUDITED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Raw Pooled Benchmark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82263" y="4297680"/>
            <a:ext cx="2476423" cy="164592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</a:defRPr>
            </a:pPr>
            <a:r>
              <a:t>353 BURST DUPLICATE TWINS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Identified via pHash &lt;=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4297680"/>
            <a:ext cx="2476423" cy="164592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7,714 SCENE GROUPS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Connected Components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83751" y="4297680"/>
            <a:ext cx="2476423" cy="164592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7C41"/>
                </a:solidFill>
              </a:defRPr>
            </a:pPr>
            <a:r>
              <a:t>ZERO GROUP OVERLAP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Programmatically Asserted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07C41"/>
                </a:solidFill>
              </a:defRPr>
            </a:pPr>
            <a:r>
              <a:t>LEAKAGE AUDIT | CAMERA BURST DECONTAMINATION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2043"/>
                </a:solidFill>
              </a:defRPr>
            </a:pPr>
            <a:r>
              <a:t>The Leakage Discovery: Exposing Burst Duplicate Contamination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dedup_burst_leak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233440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75120" y="1645920"/>
            <a:ext cx="478505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DC2626"/>
                </a:solidFill>
              </a:defRPr>
            </a:pPr>
            <a:r>
              <a:t>THE LEAKAGE AUDIT REVELATION</a:t>
            </a:r>
          </a:p>
          <a:p>
            <a:pPr>
              <a:spcBef>
                <a:spcPts val="500"/>
              </a:spcBef>
              <a:defRPr sz="1100" b="1">
                <a:solidFill>
                  <a:srgbClr val="0F2043"/>
                </a:solidFill>
              </a:defRPr>
            </a:pPr>
            <a:r>
              <a:t>• The Camera Burst Capture Phenomenon: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Field photographers take rapid burst photos (3–5 shots/sec) of an individual fecal dropping from slightly rotated angles. Under naive random splitting, identical droppings are scattered across both train and test splits.</a:t>
            </a:r>
          </a:p>
          <a:p>
            <a:pPr>
              <a:spcBef>
                <a:spcPts val="500"/>
              </a:spcBef>
              <a:defRPr sz="1100" b="1">
                <a:solidFill>
                  <a:srgbClr val="0F2043"/>
                </a:solidFill>
              </a:defRPr>
            </a:pPr>
            <a:r>
              <a:t>• Perceptual Hashing Graph Partitioning: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Computed 64-bit perceptual hashes (imagehash.phash) across all 8,067 images. Built an adjacency graph connecting pairs with Hamming distance ≤ 4, resolving 7,714 connected components and uncovering 353 duplicate burst twins.</a:t>
            </a:r>
          </a:p>
          <a:p>
            <a:pPr>
              <a:spcBef>
                <a:spcPts val="500"/>
              </a:spcBef>
              <a:defRPr sz="1100" b="1">
                <a:solidFill>
                  <a:srgbClr val="0F2043"/>
                </a:solidFill>
              </a:defRPr>
            </a:pPr>
            <a:r>
              <a:t>• Compact Cluster Verification (≤ 4 vs ≤ 6):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Sweeping the Hamming threshold to ≤ 6 yielded identical results (7,714 groups, 353 duplicates), proving that cluster boundaries are compact and sharp (no spurious merging of unrelated images).</a:t>
            </a:r>
          </a:p>
          <a:p>
            <a:pPr>
              <a:spcBef>
                <a:spcPts val="500"/>
              </a:spcBef>
              <a:defRPr sz="1100" b="1">
                <a:solidFill>
                  <a:srgbClr val="0F2043"/>
                </a:solidFill>
              </a:defRPr>
            </a:pPr>
            <a:r>
              <a:t>• Group-Aware Stratified Partitioning: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Using StratifiedGroupKFold, all near-duplicate bursts were strictly sequestered into single splits, establishing an honest holdout test benchmark (N = 1,209 images across 1,158 groups).</a:t>
            </a:r>
          </a:p>
          <a:p>
            <a:pPr>
              <a:spcBef>
                <a:spcPts val="500"/>
              </a:spcBef>
              <a:defRPr sz="1100" b="1">
                <a:solidFill>
                  <a:srgbClr val="0F2043"/>
                </a:solidFill>
              </a:defRPr>
            </a:pPr>
            <a:r>
              <a:t>• The Published Benchmark Collapse: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Published papers reported 95%–98% accuracy on naive random splits. Under our leak-free holdout, true generalized neural accuracy drops to 89.41%, exposing ~6–9 pp of burst memorization.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07C41"/>
                </a:solidFill>
              </a:defRPr>
            </a:pPr>
            <a:r>
              <a:t>MODEL EVALUATION | LEAK-FREE NEURAL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2043"/>
                </a:solidFill>
              </a:defRPr>
            </a:pPr>
            <a:r>
              <a:t>Deep CNN Empirical Results on Leak-Free Benchmark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fusion_matrix_efficientnet_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219096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75120" y="1645920"/>
            <a:ext cx="478505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2043"/>
                </a:solidFill>
              </a:defRPr>
            </a:pPr>
            <a:r>
              <a:t>THE NEURAL GENERALIZATION VERDICT</a:t>
            </a:r>
          </a:p>
          <a:p>
            <a:pPr>
              <a:spcBef>
                <a:spcPts val="500"/>
              </a:spcBef>
              <a:defRPr sz="1100" b="1">
                <a:solidFill>
                  <a:srgbClr val="107C41"/>
                </a:solidFill>
              </a:defRPr>
            </a:pPr>
            <a:r>
              <a:t>• Held-Out Test Performance (N = 1,209):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• Test Accuracy: 89.41% (1,081 / 1,209 correct)</a:t>
            </a:r>
            <a:br/>
            <a:r>
              <a:t>• Test Macro-F1: 0.8714 | Weighted-F1: 0.8953</a:t>
            </a:r>
            <a:br/>
            <a:r>
              <a:t>• Macro-Average ROC-AUC: 0.9830 (Near-perfect discriminative capacity).</a:t>
            </a:r>
          </a:p>
          <a:p>
            <a:pPr>
              <a:spcBef>
                <a:spcPts val="500"/>
              </a:spcBef>
              <a:defRPr sz="1100" b="1">
                <a:solidFill>
                  <a:srgbClr val="107C41"/>
                </a:solidFill>
              </a:defRPr>
            </a:pPr>
            <a:r>
              <a:t>• Per-Class Diagnostic Breakdown: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• Coccidiosis: Precision 95.01% | Recall 92.70% | F1 0.9384</a:t>
            </a:r>
            <a:br/>
            <a:r>
              <a:t>• Healthy: Precision 87.85% | Recall 86.15% | F1 0.8699</a:t>
            </a:r>
            <a:br/>
            <a:r>
              <a:t>• Newcastle Disease: Precision 67.26% | Recall 90.48% | F1 0.7716</a:t>
            </a:r>
            <a:br/>
            <a:r>
              <a:t>• Salmonella: Precision 92.13% | Recall 89.09% | F1 0.9058.</a:t>
            </a:r>
          </a:p>
          <a:p>
            <a:pPr>
              <a:spcBef>
                <a:spcPts val="500"/>
              </a:spcBef>
              <a:defRPr sz="1100" b="1">
                <a:solidFill>
                  <a:srgbClr val="107C41"/>
                </a:solidFill>
              </a:defRPr>
            </a:pPr>
            <a:r>
              <a:t>• Coccidiosis ↔ Salmonella Separation: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In clinical pathology, both conditions produce mucoid diarrhea. In our leak-free test, cross-confusion was just 1.44% (11 / 764 samples), cleanly distinguishing frank blood from yellow urates.</a:t>
            </a:r>
          </a:p>
          <a:p>
            <a:pPr>
              <a:spcBef>
                <a:spcPts val="500"/>
              </a:spcBef>
              <a:defRPr sz="1100" b="1">
                <a:solidFill>
                  <a:srgbClr val="107C41"/>
                </a:solidFill>
              </a:defRPr>
            </a:pPr>
            <a:r>
              <a:t>• Newcastle Sensitivity Success: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Weighted cross-entropy captured 76 / 84 minority Newcastle cases (90.48% recall), neutralizing the 1:4.5 class imbalance penalty.</a:t>
            </a:r>
          </a:p>
          <a:p>
            <a:pPr>
              <a:spcBef>
                <a:spcPts val="500"/>
              </a:spcBef>
              <a:defRPr sz="1100" b="1">
                <a:solidFill>
                  <a:srgbClr val="107C41"/>
                </a:solidFill>
              </a:defRPr>
            </a:pPr>
            <a:r>
              <a:t>• The Realistic Ceiling: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True generalized neural performance settles at ~89.4%, proving that &gt;95% published claims relied on test set burst leakage.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07C41"/>
                </a:solidFill>
              </a:defRPr>
            </a:pPr>
            <a:r>
              <a:t>UNCERTAINTY CALIBRATION | RELIABILITY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2043"/>
                </a:solidFill>
              </a:defRPr>
            </a:pPr>
            <a:r>
              <a:t>Uncertainty Calibration: Temperature Scaling Reliability Audit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libration_curves_efficientnet_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234634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75120" y="1645920"/>
            <a:ext cx="478505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2043"/>
                </a:solidFill>
              </a:defRPr>
            </a:pPr>
            <a:r>
              <a:t>EMPIRICAL CALIBRATION VERDICT</a:t>
            </a:r>
          </a:p>
          <a:p>
            <a:pPr>
              <a:spcBef>
                <a:spcPts val="500"/>
              </a:spcBef>
              <a:defRPr sz="1100" b="1">
                <a:solidFill>
                  <a:srgbClr val="2563EB"/>
                </a:solidFill>
              </a:defRPr>
            </a:pPr>
            <a:r>
              <a:t>• The Neural Overconfidence Problem: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Modern deep networks trained with cross-entropy produce overconfident, peaky probabilities. In field veterinary triage, an uncalibrated 95% confidence score on a borderline infection leads to misplaced farmer complacency.</a:t>
            </a:r>
          </a:p>
          <a:p>
            <a:pPr>
              <a:spcBef>
                <a:spcPts val="500"/>
              </a:spcBef>
              <a:defRPr sz="1100" b="1">
                <a:solidFill>
                  <a:srgbClr val="2563EB"/>
                </a:solidFill>
              </a:defRPr>
            </a:pPr>
            <a:r>
              <a:t>• Temperature Scaling Optimization: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Fitted a post-processing scalar temperature T on validation logits via Negative Log-Likelihood (NLL) minimization: optimal T = 1.6302 &gt; 1.0 (indicating raw logit overconfidence).</a:t>
            </a:r>
          </a:p>
          <a:p>
            <a:pPr>
              <a:spcBef>
                <a:spcPts val="500"/>
              </a:spcBef>
              <a:defRPr sz="1100" b="1">
                <a:solidFill>
                  <a:srgbClr val="2563EB"/>
                </a:solidFill>
              </a:defRPr>
            </a:pPr>
            <a:r>
              <a:t>• 52.2% Reduction in Calibration Error: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• Expected Calibration Error (ECE): Cut from 5.50% down to 2.63% (-2.87 percentage points).</a:t>
            </a:r>
            <a:br/>
            <a:r>
              <a:t>• Negative Log-Likelihood (NLL): Improved from 0.3675 to 0.3046.</a:t>
            </a:r>
            <a:br/>
            <a:r>
              <a:t>• Brier Score: Reduced from 0.1669 to 0.1581.</a:t>
            </a:r>
          </a:p>
          <a:p>
            <a:pPr>
              <a:spcBef>
                <a:spcPts val="500"/>
              </a:spcBef>
              <a:defRPr sz="1100" b="1">
                <a:solidFill>
                  <a:srgbClr val="2563EB"/>
                </a:solidFill>
              </a:defRPr>
            </a:pPr>
            <a:r>
              <a:t>• Empirical Reliability in Practice: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Post-calibration, a predicted probability of 80% corresponds to an exact 80% empirical hit rate, establishing trustworthy confidence for farm decision-making.</a:t>
            </a:r>
          </a:p>
          <a:p>
            <a:pPr>
              <a:spcBef>
                <a:spcPts val="500"/>
              </a:spcBef>
              <a:defRPr sz="1100" b="1">
                <a:solidFill>
                  <a:srgbClr val="2563EB"/>
                </a:solidFill>
              </a:defRPr>
            </a:pPr>
            <a:r>
              <a:t>• Zero Latency Deployment: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Temperature scaling modifies only output logits by dividing by scalar T (0.001 ms CPU), preserved in the Streamlit application.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itte_ns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6839712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7373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7C41"/>
                </a:solidFill>
              </a:defRPr>
            </a:pPr>
            <a:r>
              <a:t>ACT 3: THE SUBSTRATE CONFOUNDER &amp; SHORTCUT LEARNING</a:t>
            </a:r>
          </a:p>
          <a:p>
            <a:pPr>
              <a:spcBef>
                <a:spcPts val="800"/>
              </a:spcBef>
              <a:defRPr sz="3200" b="1">
                <a:solidFill>
                  <a:srgbClr val="FFFFFF"/>
                </a:solidFill>
              </a:defRPr>
            </a:pPr>
            <a:r>
              <a:t>Unmasking Pen Bedding Confounders</a:t>
            </a:r>
          </a:p>
          <a:p>
            <a:pPr>
              <a:spcBef>
                <a:spcPts val="1000"/>
              </a:spcBef>
              <a:defRPr sz="1600" i="1">
                <a:solidFill>
                  <a:srgbClr val="BAD7E9"/>
                </a:solidFill>
              </a:defRPr>
            </a:pPr>
            <a:r>
              <a:t>Statistical Dependency Analysis, Grad-CAM Attention Dispersion, and the Hard Minority Performance Collapse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297680"/>
            <a:ext cx="2476423" cy="164592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</a:defRPr>
            </a:pPr>
            <a:r>
              <a:t>Χ² = 3,159.75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p &lt; 10⁻³⁰⁰ Significance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82263" y="4297680"/>
            <a:ext cx="2476423" cy="164592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CRAMER'S V = 0.361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High Confounder Risk (&gt;0.30)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4297680"/>
            <a:ext cx="2476423" cy="164592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86.5% HEALTHY ON WOOD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Severe Background Shortcut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83751" y="4297680"/>
            <a:ext cx="2476423" cy="164592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7C41"/>
                </a:solidFill>
              </a:defRPr>
            </a:pPr>
            <a:r>
              <a:t>71.3% COCCI ON SOIL/LITTER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Pathology / Substrate Confound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07C41"/>
                </a:solidFill>
              </a:defRPr>
            </a:pPr>
            <a:r>
              <a:t>CONFOUNDER AUDIT | STATISTICAL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2043"/>
                </a:solidFill>
              </a:defRPr>
            </a:pPr>
            <a:r>
              <a:t>The Confounder Discovery: Acute Substrate-Disease Correlation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ubstrate_cluster_cross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21259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75120" y="1645920"/>
            <a:ext cx="478505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DC2626"/>
                </a:solidFill>
              </a:defRPr>
            </a:pPr>
            <a:r>
              <a:t>EMPIRICAL SUBSTRATE AUDIT</a:t>
            </a:r>
          </a:p>
          <a:p>
            <a:pPr>
              <a:spcBef>
                <a:spcPts val="500"/>
              </a:spcBef>
              <a:defRPr sz="1100" b="1">
                <a:solidFill>
                  <a:srgbClr val="0F2043"/>
                </a:solidFill>
              </a:defRPr>
            </a:pPr>
            <a:r>
              <a:t>• Outer-Border Clustering Audit: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Extracted outer 15% border margins from all 8,067 images, isolating pure pen bedding away from droppings. K-Means clustered background textures into 4 dominant substrates: Dark Soil (0), Wood Shavings (1), Reddish Litter (2), Mixed Straw (3).</a:t>
            </a:r>
          </a:p>
          <a:p>
            <a:pPr>
              <a:spcBef>
                <a:spcPts val="500"/>
              </a:spcBef>
              <a:defRPr sz="1100" b="1">
                <a:solidFill>
                  <a:srgbClr val="0F2043"/>
                </a:solidFill>
              </a:defRPr>
            </a:pPr>
            <a:r>
              <a:t>• Acute Bedding-Disease Correlation: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• Healthy Droppings: 86.48% (2,079 / 2,404) sat on Light Wood Shavings!</a:t>
            </a:r>
            <a:br/>
            <a:r>
              <a:t>• Coccidiosis Droppings: 71.29% (1,765 / 2,476) sat on Dark Soil or Reddish Litter!</a:t>
            </a:r>
            <a:br/>
            <a:r>
              <a:t>• Salmonella &amp; Newcastle: ~58% on Wood Shavings, ~20% on Straw.</a:t>
            </a:r>
          </a:p>
          <a:p>
            <a:pPr>
              <a:spcBef>
                <a:spcPts val="500"/>
              </a:spcBef>
              <a:defRPr sz="1100" b="1">
                <a:solidFill>
                  <a:srgbClr val="0F2043"/>
                </a:solidFill>
              </a:defRPr>
            </a:pPr>
            <a:r>
              <a:t>• Statistical Independence Refutation: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Chi-Square Test: χ² = 3,159.75 (p &lt; 10⁻³⁰⁰). Cramer's V = 0.361, comfortably exceeding the 0.30 threshold of serious concern.</a:t>
            </a:r>
          </a:p>
          <a:p>
            <a:pPr>
              <a:spcBef>
                <a:spcPts val="500"/>
              </a:spcBef>
              <a:defRPr sz="1100" b="1">
                <a:solidFill>
                  <a:srgbClr val="0F2043"/>
                </a:solidFill>
              </a:defRPr>
            </a:pPr>
            <a:r>
              <a:t>• The Background Shortcut Threat: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A deep neural network can achieve ~80% nominal accuracy without analyzing fecal pathology at all — simply learning: 'Wood shavings = Healthy; Dark Soil = Coccidiosis'!</a:t>
            </a:r>
          </a:p>
          <a:p>
            <a:pPr>
              <a:spcBef>
                <a:spcPts val="500"/>
              </a:spcBef>
              <a:defRPr sz="1100" b="1">
                <a:solidFill>
                  <a:srgbClr val="0F2043"/>
                </a:solidFill>
              </a:defRPr>
            </a:pPr>
            <a:r>
              <a:t>• Mandatory Audit: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Demanded a dedicated hard-subset stress test and peripheral background feature ablation.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07C41"/>
                </a:solidFill>
              </a:defRPr>
            </a:pPr>
            <a:r>
              <a:t>STRESS-TEST AUDIT | MINORITY SUBSTRATES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2043"/>
                </a:solidFill>
              </a:defRPr>
            </a:pPr>
            <a:r>
              <a:t>The Hard Minority Stress Test: Neural Performance Collapse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2043"/>
                </a:solidFill>
              </a:defRPr>
            </a:pPr>
            <a:r>
              <a:t>THE HARD MINORITY SUBSTRATE AUDIT (n = 374, 30.9% of Test Set)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We audited test images photographed strictly on each disease's atypical minority bedding (e.g., Healthy on bare soil/straw; Coccidiosis on wood shavings):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377440"/>
          <a:ext cx="1054577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645920"/>
                <a:gridCol w="1645920"/>
                <a:gridCol w="1645920"/>
                <a:gridCol w="1645920"/>
                <a:gridCol w="1858975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Diagnostic Class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Overall Recall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Hard Recall (n=374)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Recall Delta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Mean Center CAM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Operational Impact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Coccidiosis (on wood / straw)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92.70%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90.35%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-2.35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74.2%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Resilient: Blood overrides bedding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Healthy (on soil / reddish / straw)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86.15%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68.52%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-17.63 pp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51.4%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C2626"/>
                          </a:solidFill>
                        </a:defRPr>
                      </a:pPr>
                      <a:r>
                        <a:t>VULNERABLE: Severe False Alarms!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Newcastle Disease (on soil / reddish)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90.48%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93.94%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+3.46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58.1%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Resilient: Dispersed green watery bile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Salmonella (on soil / reddish)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89.09%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89.02%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-0.07 pp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71.6%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Resilient: Yellow urate contrast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4389120"/>
            <a:ext cx="10545775" cy="173736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97706"/>
                </a:solidFill>
              </a:defRPr>
            </a:pPr>
            <a:r>
              <a:t>CRITICAL AUDIT TAKEAWAY: THE HEALTHY FALSE-ALARM CRISIS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Healthy Dropping Collapse: When normal droppings appear on soil or straw instead of familiar wood shavings, recall plummets from 86.15% down to 68.52% (-17.63 pp).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False Alarm Mechanism: In the absence of bright wood shavings, the neural network panics and misclassifies normal brown/green feces as Coccidiosis or Newcastle.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Clinical Consequence: Healthy flocks would be subjected to unwarranted chemical medication or quarantine simply because the farmer changed pen bedding!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07C41"/>
                </a:solidFill>
              </a:defRPr>
            </a:pPr>
            <a:r>
              <a:t>EXPLAINABLE AI | GRAD-CAM SPATIAL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2043"/>
                </a:solidFill>
              </a:defRPr>
            </a:pPr>
            <a:r>
              <a:t>Explainability Audit: Grad-CAM Attention Dispersion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radcam_composite_grid_efficientnet_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410569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75120" y="1645920"/>
            <a:ext cx="478505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2043"/>
                </a:solidFill>
              </a:defRPr>
            </a:pPr>
            <a:r>
              <a:t>THE EXPLAINABILITY AUDIT REVELATION</a:t>
            </a:r>
          </a:p>
          <a:p>
            <a:pPr>
              <a:spcBef>
                <a:spcPts val="500"/>
              </a:spcBef>
              <a:defRPr sz="1100" b="1">
                <a:solidFill>
                  <a:srgbClr val="107C41"/>
                </a:solidFill>
              </a:defRPr>
            </a:pPr>
            <a:r>
              <a:t>• Automated Target-Layer Resolution: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Grad-CAM hooked into conv_head (Conv2d 320→1280) of EfficientNet-B0. Audited 24 representative test samples (3 correct + 3 incorrect per class).</a:t>
            </a:r>
          </a:p>
          <a:p>
            <a:pPr>
              <a:spcBef>
                <a:spcPts val="500"/>
              </a:spcBef>
              <a:defRPr sz="1100" b="1">
                <a:solidFill>
                  <a:srgbClr val="107C41"/>
                </a:solidFill>
              </a:defRPr>
            </a:pPr>
            <a:r>
              <a:t>• Spatial Activation Energy Quantification: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Computed activation energy in central 70% bounding region vs outer 15% bedding margin:</a:t>
            </a:r>
            <a:br/>
            <a:r>
              <a:t>• Overall Test Set: 75.9% Central Energy (Focal Focus)</a:t>
            </a:r>
            <a:br/>
            <a:r>
              <a:t>• Hard Minority Subset: Drops to 52.8% Central Energy (Litter Dispersion!).</a:t>
            </a:r>
          </a:p>
          <a:p>
            <a:pPr>
              <a:spcBef>
                <a:spcPts val="500"/>
              </a:spcBef>
              <a:defRPr sz="1100" b="1">
                <a:solidFill>
                  <a:srgbClr val="107C41"/>
                </a:solidFill>
              </a:defRPr>
            </a:pPr>
            <a:r>
              <a:t>• Focal Attributions on Primary Lesions: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For high-confidence correct classifications, attention centers tightly on authentic biological markers: crimson hemorrhages for Coccidiosis, yellow urate caps for Salmonella.</a:t>
            </a:r>
          </a:p>
          <a:p>
            <a:pPr>
              <a:spcBef>
                <a:spcPts val="500"/>
              </a:spcBef>
              <a:defRPr sz="1100" b="1">
                <a:solidFill>
                  <a:srgbClr val="107C41"/>
                </a:solidFill>
              </a:defRPr>
            </a:pPr>
            <a:r>
              <a:t>• Attention Dispersion on Hard Substrates: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On atypical substrates, heatmaps broaden across stool boundaries, lighting up straw edges, wood shavings, and bare dirt.</a:t>
            </a:r>
          </a:p>
          <a:p>
            <a:pPr>
              <a:spcBef>
                <a:spcPts val="500"/>
              </a:spcBef>
              <a:defRPr sz="1100" b="1">
                <a:solidFill>
                  <a:srgbClr val="107C41"/>
                </a:solidFill>
              </a:defRPr>
            </a:pPr>
            <a:r>
              <a:t>• Veterinary Screening Warning: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Post-hoc saliency maps cannot serve as sole confirmation of diagnosis; visual heatmaps can mislead practitioners when background textures distract neural filters.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itte_ns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6839712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7373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7C41"/>
                </a:solidFill>
              </a:defRPr>
            </a:pPr>
            <a:r>
              <a:t>ACT 4: SHORTCUT-RESISTANT FEATURE ENGINEERING</a:t>
            </a:r>
          </a:p>
          <a:p>
            <a:pPr>
              <a:spcBef>
                <a:spcPts val="800"/>
              </a:spcBef>
              <a:defRPr sz="3200" b="1">
                <a:solidFill>
                  <a:srgbClr val="FFFFFF"/>
                </a:solidFill>
              </a:defRPr>
            </a:pPr>
            <a:r>
              <a:t>The Classical ML Counter-Offensive</a:t>
            </a:r>
          </a:p>
          <a:p>
            <a:pPr>
              <a:spcBef>
                <a:spcPts val="1000"/>
              </a:spcBef>
              <a:defRPr sz="1600" i="1">
                <a:solidFill>
                  <a:srgbClr val="BAD7E9"/>
                </a:solidFill>
              </a:defRPr>
            </a:pPr>
            <a:r>
              <a:t>Ablating the Background: Can Domain-Engineered Core Features Outperform Deep Convolutional Networks?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297680"/>
            <a:ext cx="2476423" cy="164592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7C41"/>
                </a:solidFill>
              </a:defRPr>
            </a:pPr>
            <a:r>
              <a:t>205-D CORE FEATURES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Strict Central 60% Crop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82263" y="4297680"/>
            <a:ext cx="2476423" cy="164592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0% LITTER VISIBILITY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Completely Blind to Bedding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4297680"/>
            <a:ext cx="2476423" cy="164592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</a:defRPr>
            </a:pPr>
            <a:r>
              <a:t>SVM F1: 0.9195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+4.81 pp Over Deep CNN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83751" y="4297680"/>
            <a:ext cx="2476423" cy="164592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2.65 MB FOOTPRINT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14.2 ms CPU Latency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07C41"/>
                </a:solidFill>
              </a:defRPr>
            </a:pPr>
            <a:r>
              <a:t>FEATURE ENGINEERING | DOMAIN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2043"/>
                </a:solidFill>
              </a:defRPr>
            </a:pPr>
            <a:r>
              <a:t>Feature Engineering: Multimodal Color, Texture &amp; Core Extraction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2043"/>
                </a:solidFill>
              </a:defRPr>
            </a:pPr>
            <a:r>
              <a:t>1. COLOR SPACES: CIELAB &amp; HSV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• RGB fails under uncalibrated farm lighting. CIELAB decouples lightness (L*) from chromaticity (a*, b*).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• a* Channel (Green-Red): Directly isolates crimson hemoglobin hemorrhage in Coccidiosis stool.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• b* Channel (Blue-Yellow): Quantifies uric acid crystals and sulfur-yellow Salmonella discharge.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• HSV Hue &amp; Saturation: Captures emerald bile tones of Newcastle Disease. 16-bin histograms + 4 statistical moments (mean, std, skew, kurtosis).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2. MICRO-TEXTURE &amp; WAVELETS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• Local Binary Patterns (LBP): Circular uniform patterns (P=8, R=1, 10 bins) capture fine mucosal granulation and fibrinous flakes in droppings.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• 2-Level 2D Haar Discrete Wavelet Transform (DWT): Decomposes fecal image into LL, LH, HL, HH sub-bands.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• Extracts horizontal, vertical, and diagonal energy distributions, isolating watery mucosal boundaries from dry stool surfaces.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7C41"/>
                </a:solidFill>
              </a:defRPr>
            </a:pPr>
            <a:r>
              <a:t>3. CENTRAL 60% CORE MASKING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• The Confounder Blinding Protocol: Droppings naturally occupy the center frame under standard smartphone photography.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• Engineered features extracted strictly from the inner 60% concentric bounding core (center_ features), discarding outer 40% borders.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• Mathematically guarantees zero background litter visibility, eliminating wood shavings and dirt shortcuts permanently.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07C41"/>
                </a:solidFill>
              </a:defRPr>
            </a:pPr>
            <a:r>
              <a:t>CLASSICAL VS DEEP CNN | BENCHMARK VERDICT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2043"/>
                </a:solidFill>
              </a:defRPr>
            </a:pPr>
            <a:r>
              <a:t>The Classical Breakthrough: Core-Ablated SVM Outperforms Deep CNN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master_model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286458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75120" y="1645920"/>
            <a:ext cx="478505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2043"/>
                </a:solidFill>
              </a:defRPr>
            </a:pPr>
            <a:r>
              <a:t>THE HONEST SCIENTIFIC VERDICT</a:t>
            </a:r>
          </a:p>
          <a:p>
            <a:pPr>
              <a:spcBef>
                <a:spcPts val="500"/>
              </a:spcBef>
              <a:defRPr sz="1100" b="1">
                <a:solidFill>
                  <a:srgbClr val="107C41"/>
                </a:solidFill>
              </a:defRPr>
            </a:pPr>
            <a:r>
              <a:t>• The Background Confounder Confirmed: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Full 410-d SVM dropped from 0.9428 to 0.9195 (-0.0233) when global features were removed. This confirms that global bedding statistics (global_lab_b_skew) had indeed provided shortcut leverage.</a:t>
            </a:r>
          </a:p>
          <a:p>
            <a:pPr>
              <a:spcBef>
                <a:spcPts val="500"/>
              </a:spcBef>
              <a:defRPr sz="1100" b="1">
                <a:solidFill>
                  <a:srgbClr val="107C41"/>
                </a:solidFill>
              </a:defRPr>
            </a:pPr>
            <a:r>
              <a:t>• Center-Only SVM Dominates Deep CNN: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Even when 100% blinded to the background, Center-Only SVM achieves 0.9195 Macro-F1 (93.55% Acc) vs 0.8714 Macro-F1 (89.41% Acc) for EfficientNet-B0 — beating deep learning by +4.81 percentage points!</a:t>
            </a:r>
          </a:p>
          <a:p>
            <a:pPr>
              <a:spcBef>
                <a:spcPts val="500"/>
              </a:spcBef>
              <a:defRPr sz="1100" b="1">
                <a:solidFill>
                  <a:srgbClr val="107C41"/>
                </a:solidFill>
              </a:defRPr>
            </a:pPr>
            <a:r>
              <a:t>• Superior Hard-Subset Robustness: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On the 374 hard minority images, Center-Only SVM hits 0.8690 Macro-F1 vs 0.8204 for the deep CNN, proving far greater resilience against bedding shifts.</a:t>
            </a:r>
          </a:p>
          <a:p>
            <a:pPr>
              <a:spcBef>
                <a:spcPts val="500"/>
              </a:spcBef>
              <a:defRPr sz="1100" b="1">
                <a:solidFill>
                  <a:srgbClr val="107C41"/>
                </a:solidFill>
              </a:defRPr>
            </a:pPr>
            <a:r>
              <a:t>• Edge Footprint &amp; Latency Triumph: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• Model Disk Size: 2.65 MB (SVM) vs 16.0 MB (PyTorch CNN)</a:t>
            </a:r>
            <a:br/>
            <a:r>
              <a:t>• End-to-End Latency: 14.2 ms (SVM) vs 15.6 ms (PyTorch CNN)</a:t>
            </a:r>
            <a:br/>
            <a:r>
              <a:t>• Training Time: 0.6 seconds vs ~7.5 hours on CPU.</a:t>
            </a:r>
          </a:p>
          <a:p>
            <a:pPr>
              <a:spcBef>
                <a:spcPts val="500"/>
              </a:spcBef>
              <a:defRPr sz="1100" b="1">
                <a:solidFill>
                  <a:srgbClr val="107C41"/>
                </a:solidFill>
              </a:defRPr>
            </a:pPr>
            <a:r>
              <a:t>• Takeaway for Low-Resource Edge AI: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Deep learning is not universally superior. Well-engineered domain color features with spatial masking outperform unconstrained CNNs.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07C41"/>
                </a:solidFill>
              </a:defRPr>
            </a:pPr>
            <a:r>
              <a:t>SHAP INTERPRETABILITY &amp; VETERINARY TRADE-OFF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2043"/>
                </a:solidFill>
              </a:defRPr>
            </a:pPr>
            <a:r>
              <a:t>SHAP Interpretability &amp; The Critical Veterinary Trade-Off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ap_summary_center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395131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75120" y="1645920"/>
            <a:ext cx="478505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D97706"/>
                </a:solidFill>
              </a:defRPr>
            </a:pPr>
            <a:r>
              <a:t>THE NEWCASTLE DILEMMA &amp; SYNERGY</a:t>
            </a:r>
          </a:p>
          <a:p>
            <a:pPr>
              <a:spcBef>
                <a:spcPts val="500"/>
              </a:spcBef>
              <a:defRPr sz="1100" b="1">
                <a:solidFill>
                  <a:srgbClr val="0F2043"/>
                </a:solidFill>
              </a:defRPr>
            </a:pPr>
            <a:r>
              <a:t>• 100% Core Fecal Biomarkers (SHAP):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Top features driving the center-only model: center_lab_b_bin10 (yellow urate / Salmonella), center_rgb_r_bin15 (crimson hemorrhage / Coccidiosis), and center_hsv_h_bin2 (emerald bile / Newcastle). Zero background artifacts dominate.</a:t>
            </a:r>
          </a:p>
          <a:p>
            <a:pPr>
              <a:spcBef>
                <a:spcPts val="500"/>
              </a:spcBef>
              <a:defRPr sz="1100" b="1">
                <a:solidFill>
                  <a:srgbClr val="0F2043"/>
                </a:solidFill>
              </a:defRPr>
            </a:pPr>
            <a:r>
              <a:t>• The Critical Newcastle Trade-Off: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While SVM excels on Healthy recall (79.63% vs 68.52% on hard bedding), Newcastle recall drops from 93.94% (CNN) down to 78.79% (SVM) on atypical droppings!</a:t>
            </a:r>
          </a:p>
          <a:p>
            <a:pPr>
              <a:spcBef>
                <a:spcPts val="500"/>
              </a:spcBef>
              <a:defRPr sz="1100" b="1">
                <a:solidFill>
                  <a:srgbClr val="0F2043"/>
                </a:solidFill>
              </a:defRPr>
            </a:pPr>
            <a:r>
              <a:t>• Why Classical Models Struggle on Newcastle: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Newcastle droppings produce irregular, watery bile puddles where color histograms alone miss subtle spatial bile gradients that hierarchical CNN receptive fields capture.</a:t>
            </a:r>
          </a:p>
          <a:p>
            <a:pPr>
              <a:spcBef>
                <a:spcPts val="500"/>
              </a:spcBef>
              <a:defRPr sz="1100" b="1">
                <a:solidFill>
                  <a:srgbClr val="0F2043"/>
                </a:solidFill>
              </a:defRPr>
            </a:pPr>
            <a:r>
              <a:t>• The Dual-Engine Mandate: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Neither model is sufficient alone: SVM eliminates substrate false alarms, while EfficientNet-B0 guards against missed Newcastle outbreaks.</a:t>
            </a:r>
          </a:p>
          <a:p>
            <a:pPr>
              <a:spcBef>
                <a:spcPts val="500"/>
              </a:spcBef>
              <a:defRPr sz="1100" b="1">
                <a:solidFill>
                  <a:srgbClr val="0F2043"/>
                </a:solidFill>
              </a:defRPr>
            </a:pPr>
            <a:r>
              <a:t>• Operational Synergy: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Option A runs both engines in parallel: SVM provides primary triage; CNN triggers a high-sensitivity tripwire alert if Newcastle is suspected.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itte_ns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6839712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7373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7C41"/>
                </a:solidFill>
              </a:defRPr>
            </a:pPr>
            <a:r>
              <a:t>ACT 5: OUT-OF-DISTRIBUTION SAFEGUARDS &amp; EDGE LIMITS</a:t>
            </a:r>
          </a:p>
          <a:p>
            <a:pPr>
              <a:spcBef>
                <a:spcPts val="800"/>
              </a:spcBef>
              <a:defRPr sz="3200" b="1">
                <a:solidFill>
                  <a:srgbClr val="FFFFFF"/>
                </a:solidFill>
              </a:defRPr>
            </a:pPr>
            <a:r>
              <a:t>Out-of-Distribution Distractors &amp; Edge Quantization</a:t>
            </a:r>
          </a:p>
          <a:p>
            <a:pPr>
              <a:spcBef>
                <a:spcPts val="1000"/>
              </a:spcBef>
              <a:defRPr sz="1600" i="1">
                <a:solidFill>
                  <a:srgbClr val="BAD7E9"/>
                </a:solidFill>
              </a:defRPr>
            </a:pPr>
            <a:r>
              <a:t>Defeating ImageNet Linear Projection Bias, 2.88x ONNX FP32 Speedup, and Dynamic INT8 Collapse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297680"/>
            <a:ext cx="2476423" cy="164592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300 REAL DISTRACTORS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Boots, Hands, Tools, Soil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82263" y="4297680"/>
            <a:ext cx="2476423" cy="164592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</a:defRPr>
            </a:pPr>
            <a:r>
              <a:t>LOGIT ENERGY: 23.0%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Catastrophic OOD Failure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4297680"/>
            <a:ext cx="2476423" cy="164592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7C41"/>
                </a:solidFill>
              </a:defRPr>
            </a:pPr>
            <a:r>
              <a:t>COSINE DIST: 98.0%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100% Boots/Hands Blocked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83751" y="4297680"/>
            <a:ext cx="2476423" cy="164592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ONNX FP32: 4.65 MS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214.9 FPS Real-Time CPU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07C41"/>
                </a:solidFill>
              </a:defRPr>
            </a:pPr>
            <a:r>
              <a:t>OOD DETECTION | METHODOLOGICAL BREAKTHROUGH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2043"/>
                </a:solidFill>
              </a:defRPr>
            </a:pPr>
            <a:r>
              <a:t>The OOD Audit: Why Logit Scores Failed &amp; Representation Distance Won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ood_rejection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280863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75120" y="1645920"/>
            <a:ext cx="478505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2043"/>
                </a:solidFill>
              </a:defRPr>
            </a:pPr>
            <a:r>
              <a:t>IMAGENET PROJECTION BIAS EXPOSED</a:t>
            </a:r>
          </a:p>
          <a:p>
            <a:pPr>
              <a:spcBef>
                <a:spcPts val="500"/>
              </a:spcBef>
              <a:defRPr sz="1100" b="1">
                <a:solidFill>
                  <a:srgbClr val="107C41"/>
                </a:solidFill>
              </a:defRPr>
            </a:pPr>
            <a:r>
              <a:t>• The 300 Real Farm Distractor Benchmark: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Evaluated 4 non-fecal categories: rubber boots (75), human hands/skin (75), domestic buckets/tools (75), and clean pen soil (75).</a:t>
            </a:r>
          </a:p>
          <a:p>
            <a:pPr>
              <a:spcBef>
                <a:spcPts val="500"/>
              </a:spcBef>
              <a:defRPr sz="1100" b="1">
                <a:solidFill>
                  <a:srgbClr val="DC2626"/>
                </a:solidFill>
              </a:defRPr>
            </a:pPr>
            <a:r>
              <a:t>• Catastrophic Logit-Based Collapse: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Free Energy (23.0%), MLS (23.3%), and Softmax (21.3%) failed completely, admitting 77% of boots and hands and confidently diagnosing rubber footwear as Coccidiosis!</a:t>
            </a:r>
          </a:p>
          <a:p>
            <a:pPr>
              <a:spcBef>
                <a:spcPts val="500"/>
              </a:spcBef>
              <a:defRPr sz="1100" b="1">
                <a:solidFill>
                  <a:srgbClr val="DC2626"/>
                </a:solidFill>
              </a:defRPr>
            </a:pPr>
            <a:r>
              <a:t>• The Mechanism — ImageNet Projection Bias: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Backbone yields large-norm feature vectors for common objects (boots, hands). In a 4-class linear head (W · z), high-norm vectors randomly project strongly onto positive disease weights, creating high energy scores.</a:t>
            </a:r>
          </a:p>
          <a:p>
            <a:pPr>
              <a:spcBef>
                <a:spcPts val="500"/>
              </a:spcBef>
              <a:defRPr sz="1100" b="1">
                <a:solidFill>
                  <a:srgbClr val="107C41"/>
                </a:solidFill>
              </a:defRPr>
            </a:pPr>
            <a:r>
              <a:t>• The Representation Distance Solution: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Deep Cosine Feature Distance in R¹²⁸⁰ measures geometric distance against in-distribution class centroids (μ_c). Achieves 98.00% OOD rejection (100% on boots, hands, tools; AUROC 0.9966)!</a:t>
            </a:r>
          </a:p>
          <a:p>
            <a:pPr>
              <a:spcBef>
                <a:spcPts val="500"/>
              </a:spcBef>
              <a:defRPr sz="1100" b="1">
                <a:solidFill>
                  <a:srgbClr val="107C41"/>
                </a:solidFill>
              </a:defRPr>
            </a:pPr>
            <a:r>
              <a:t>• Classical Fallback: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For low-power microcontrollers, Classical Core Distance achieves 92.67% rejection (AUROC 0.9882) without requiring any neural inference.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07C41"/>
                </a:solidFill>
              </a:defRPr>
            </a:pPr>
            <a:r>
              <a:t>EDGE COMPUTING | QUANTIZATION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2043"/>
                </a:solidFill>
              </a:defRPr>
            </a:pPr>
            <a:r>
              <a:t>Edge Deployment &amp; Quantization Audit: The INT8 Depthwise Trap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edge_quantization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235823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75120" y="1645920"/>
            <a:ext cx="478505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2043"/>
                </a:solidFill>
              </a:defRPr>
            </a:pPr>
            <a:r>
              <a:t>ENGINEERING EXPORT AUDIT</a:t>
            </a:r>
          </a:p>
          <a:p>
            <a:pPr>
              <a:spcBef>
                <a:spcPts val="500"/>
              </a:spcBef>
              <a:defRPr sz="1100" b="1">
                <a:solidFill>
                  <a:srgbClr val="107C41"/>
                </a:solidFill>
              </a:defRPr>
            </a:pPr>
            <a:r>
              <a:t>• ONNX FP32 Engine (4.65 ms | 214.9 FPS):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Exporting PyTorch to optimized ONNX Runtime FP32 slashed CPU latency from 15.6 ms to 4.65 ms — a 2.88x speedup with exact numerical fidelity (max absolute difference &lt; 10⁻⁵).</a:t>
            </a:r>
          </a:p>
          <a:p>
            <a:pPr>
              <a:spcBef>
                <a:spcPts val="500"/>
              </a:spcBef>
              <a:defRPr sz="1100" b="1">
                <a:solidFill>
                  <a:srgbClr val="DC2626"/>
                </a:solidFill>
              </a:defRPr>
            </a:pPr>
            <a:r>
              <a:t>• The Dynamic INT8 Quantization Collapse: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Dynamic 8-bit quantization shrank model disk size from 15.28 MB to 4.11 MB (-73.1%), but top-1 test accuracy catastrophically collapsed from 89.41% down to 15.50% (-73.9 pp collapse)!</a:t>
            </a:r>
          </a:p>
          <a:p>
            <a:pPr>
              <a:spcBef>
                <a:spcPts val="500"/>
              </a:spcBef>
              <a:defRPr sz="1100" b="1">
                <a:solidFill>
                  <a:srgbClr val="DC2626"/>
                </a:solidFill>
              </a:defRPr>
            </a:pPr>
            <a:r>
              <a:t>• Root Cause — Depthwise Accumulation Degradation: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Depthwise separable convolutions in EfficientNet-B0 have small dynamic per-channel activation ranges that clip severely under dynamic affine INT8 quantization.</a:t>
            </a:r>
          </a:p>
          <a:p>
            <a:pPr>
              <a:spcBef>
                <a:spcPts val="500"/>
              </a:spcBef>
              <a:defRPr sz="1100" b="1">
                <a:solidFill>
                  <a:srgbClr val="107C41"/>
                </a:solidFill>
              </a:defRPr>
            </a:pPr>
            <a:r>
              <a:t>• Edge Deployment Policy: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Never deploy dynamic INT8 on depthwise mobile backbones without full Post-Training Calibration or Quantization-Aware Training (QAT).</a:t>
            </a:r>
          </a:p>
          <a:p>
            <a:pPr>
              <a:spcBef>
                <a:spcPts val="500"/>
              </a:spcBef>
              <a:defRPr sz="1100" b="1">
                <a:solidFill>
                  <a:srgbClr val="107C41"/>
                </a:solidFill>
              </a:defRPr>
            </a:pPr>
            <a:r>
              <a:t>• The Optimal Edge Architecture:</a:t>
            </a:r>
          </a:p>
          <a:p>
            <a:pPr>
              <a:spcBef>
                <a:spcPts val="100"/>
              </a:spcBef>
              <a:defRPr sz="980">
                <a:solidFill>
                  <a:srgbClr val="0F172A"/>
                </a:solidFill>
              </a:defRPr>
            </a:pPr>
            <a:r>
              <a:t>ONNX FP32 runs in 4.65 ms on standard mobile CPUs, rendering risky INT8 compression completely unnecessary for real-time operation.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07C41"/>
                </a:solidFill>
              </a:defRPr>
            </a:pPr>
            <a:r>
              <a:t>SYSTEM IMPLEMENTATION | FIELD INTERACTION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2043"/>
                </a:solidFill>
              </a:defRPr>
            </a:pPr>
            <a:r>
              <a:t>KukuGuard Field Screening Dashboard &amp; Dual-Engine Triage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app_sample_triage_gall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470849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75120" y="1645920"/>
            <a:ext cx="478505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2043"/>
                </a:solidFill>
              </a:defRPr>
            </a:pPr>
            <a:r>
              <a:t>FIELD APPLICATION &amp; BIOSECURITY</a:t>
            </a:r>
          </a:p>
          <a:p>
            <a:pPr>
              <a:spcBef>
                <a:spcPts val="400"/>
              </a:spcBef>
              <a:defRPr sz="1050" b="1">
                <a:solidFill>
                  <a:srgbClr val="107C41"/>
                </a:solidFill>
              </a:defRPr>
            </a:pPr>
            <a:r>
              <a:t>• Dual Pipeline Modes (Sidebar Switch):</a:t>
            </a:r>
          </a:p>
          <a:p>
            <a:pPr>
              <a:spcBef>
                <a:spcPts val="100"/>
              </a:spcBef>
              <a:defRPr sz="919">
                <a:solidFill>
                  <a:srgbClr val="0F172A"/>
                </a:solidFill>
              </a:defRPr>
            </a:pPr>
            <a:r>
              <a:t>• Option A (Dual-Engine Max-Safeguard): Cosine OOD Gate + Center SVM + ONNX CNN + Grad-CAM (~21.6 ms end-to-end CPU).</a:t>
            </a:r>
            <a:br/>
            <a:r>
              <a:t>• Option B (Edge Micro-Pipeline): Classical OOD Gate + Center SVM only (~14.4 ms CPU, 2.65 MB footprint).</a:t>
            </a:r>
          </a:p>
          <a:p>
            <a:pPr>
              <a:spcBef>
                <a:spcPts val="400"/>
              </a:spcBef>
              <a:defRPr sz="1050" b="1">
                <a:solidFill>
                  <a:srgbClr val="107C41"/>
                </a:solidFill>
              </a:defRPr>
            </a:pPr>
            <a:r>
              <a:t>• Automated OOD Gate Interception:</a:t>
            </a:r>
          </a:p>
          <a:p>
            <a:pPr>
              <a:spcBef>
                <a:spcPts val="100"/>
              </a:spcBef>
              <a:defRPr sz="919">
                <a:solidFill>
                  <a:srgbClr val="0F172A"/>
                </a:solidFill>
              </a:defRPr>
            </a:pPr>
            <a:r>
              <a:t>Non-fecal uploads (boots, bare dirt, hands) are intercepted immediately: displays clear notice 'Non-Fecal Image Detected' and halts classification before false alarms can occur.</a:t>
            </a:r>
          </a:p>
          <a:p>
            <a:pPr>
              <a:spcBef>
                <a:spcPts val="400"/>
              </a:spcBef>
              <a:defRPr sz="1050" b="1">
                <a:solidFill>
                  <a:srgbClr val="107C41"/>
                </a:solidFill>
              </a:defRPr>
            </a:pPr>
            <a:r>
              <a:t>• Dual-Model Consensus &amp; Newcastle Alert:</a:t>
            </a:r>
          </a:p>
          <a:p>
            <a:pPr>
              <a:spcBef>
                <a:spcPts val="100"/>
              </a:spcBef>
              <a:defRPr sz="919">
                <a:solidFill>
                  <a:srgbClr val="0F172A"/>
                </a:solidFill>
              </a:defRPr>
            </a:pPr>
            <a:r>
              <a:t>Displays primary SVM prediction alongside secondary CNN probability. Triggers an urgent warning banner if the CNN detects Newcastle Disease (93.9% vs 78.8% hard recall).</a:t>
            </a:r>
          </a:p>
          <a:p>
            <a:pPr>
              <a:spcBef>
                <a:spcPts val="400"/>
              </a:spcBef>
              <a:defRPr sz="1050" b="1">
                <a:solidFill>
                  <a:srgbClr val="107C41"/>
                </a:solidFill>
              </a:defRPr>
            </a:pPr>
            <a:r>
              <a:t>• Grad-CAM Spatial Focus Badge:</a:t>
            </a:r>
          </a:p>
          <a:p>
            <a:pPr>
              <a:spcBef>
                <a:spcPts val="100"/>
              </a:spcBef>
              <a:defRPr sz="919">
                <a:solidFill>
                  <a:srgbClr val="0F172A"/>
                </a:solidFill>
              </a:defRPr>
            </a:pPr>
            <a:r>
              <a:t>Calculates real-time central vs border energy ratio. Displays green badge ('Focal Attention Confirmed ≥ 65%') or yellow warning if attention disperses onto bedding.</a:t>
            </a:r>
          </a:p>
          <a:p>
            <a:pPr>
              <a:spcBef>
                <a:spcPts val="400"/>
              </a:spcBef>
              <a:defRPr sz="1050" b="1">
                <a:solidFill>
                  <a:srgbClr val="107C41"/>
                </a:solidFill>
              </a:defRPr>
            </a:pPr>
            <a:r>
              <a:t>• Pre-Staged 11-Sample Interactive Gallery:</a:t>
            </a:r>
          </a:p>
          <a:p>
            <a:pPr>
              <a:spcBef>
                <a:spcPts val="100"/>
              </a:spcBef>
              <a:defRPr sz="919">
                <a:solidFill>
                  <a:srgbClr val="0F172A"/>
                </a:solidFill>
              </a:defRPr>
            </a:pPr>
            <a:r>
              <a:t>Shipped with 11 representative samples (2 per disease + 3 distractors) for instant evaluation without requiring live chicken dropping photos.</a:t>
            </a:r>
          </a:p>
          <a:p>
            <a:pPr>
              <a:spcBef>
                <a:spcPts val="400"/>
              </a:spcBef>
              <a:defRPr sz="1050" b="1">
                <a:solidFill>
                  <a:srgbClr val="107C41"/>
                </a:solidFill>
              </a:defRPr>
            </a:pPr>
            <a:r>
              <a:t>• Comprehensive Disease Dossiers:</a:t>
            </a:r>
          </a:p>
          <a:p>
            <a:pPr>
              <a:spcBef>
                <a:spcPts val="100"/>
              </a:spcBef>
              <a:defRPr sz="919">
                <a:solidFill>
                  <a:srgbClr val="0F172A"/>
                </a:solidFill>
              </a:defRPr>
            </a:pPr>
            <a:r>
              <a:t>Includes clinical etiology, transmission vectors, clinical signs, medical therapy, and biosecurity cordon protocols compiled from FAO / WOAH Terrestrial Manual standards.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07C41"/>
                </a:solidFill>
              </a:defRPr>
            </a:pPr>
            <a:r>
              <a:t>CRITICAL APPRAISAL | DEFENSE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2043"/>
                </a:solidFill>
              </a:defRPr>
            </a:pPr>
            <a:r>
              <a:t>Scientific Limitations, Future Scope &amp; Conclusions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C2626"/>
                </a:solidFill>
              </a:defRPr>
            </a:pPr>
            <a:r>
              <a:t>Critical Limitations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• Single Geographic Provenance: Dataset collected exclusively in northern Tanzania (Arusha/Kilimanjaro); performance across exotic European/Asian breeds or automated cage batteries unverified.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• Isolated Stool Assumption: Evaluates individual droppings; does not integrate flock-level water intake, temperature curves, or mortality records.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• Screening Aid, Not Final Diagnosis: Gross fecal appearance indicates organ pathology, not definitive microbiological proof; PCR confirmation remains mandatory for statutory epizootic reporting.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Strategic Future Scope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• Intrinsic Spatial Cross-Attention: Replace post-hoc Grad-CAM with Vision Transformer patch cross-attention trained directly on segmented fecal masks.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• Multi-Modal Sensor Integration: Fuse fecal computer vision with acoustic microphone rale detection and IoT environmental humidity telemetry.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• Quantization-Aware Training (QAT): Train dedicated INT8 models with learned per-channel scale factors to recover depthwise accuracy on ultra-low-power microcontrollers.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7C41"/>
                </a:solidFill>
              </a:defRPr>
            </a:pPr>
            <a:r>
              <a:t>Core Takeaways for Defense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• Published &gt;95% Benchmarks Were Artifactual: Camera burst leakage inflates accuracy; true leak-free neural baseline is 89.41%.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• Domain-Engineered Core Features Win: Center-Only SVM achieves 91.95% Macro-F1, beating deep CNNs by +4.81 pp while eliminating bedding shortcuts.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• Representation OOD Gating is Essential: Deep Cosine Distance eliminates catastrophic false alarms on farm boots and hands (98.0% rejection vs 23.0% for logit energy).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